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4132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1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line">
            <a:avLst/>
          </a:prstGeom>
          <a:solidFill>
            <a:srgbClr val="1E3A5F">
              <a:alpha val="40000"/>
            </a:srgbClr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49440" y="-365760"/>
            <a:ext cx="3200400" cy="3200400"/>
          </a:xfrm>
          <a:prstGeom prst="line">
            <a:avLst/>
          </a:prstGeom>
          <a:solidFill>
            <a:srgbClr val="0099CC">
              <a:alpha val="20000"/>
            </a:srgbClr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SIMULATION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 · Detection · Recovery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2450592"/>
            <a:ext cx="3840480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25786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Lab Project — 4th Semester  |  BS Cyber Security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NASTP IIT  |  Ms. Iqra Siddique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Muhammad Haseeb Sajid   F2024CY018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 Muhammad            F2024CY027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Hafiz Ahmed Riaz        F2024CY005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Muhammad Ahmed          F2024CY033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606040"/>
            <a:ext cx="1371600" cy="1371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02920" y="4773168"/>
            <a:ext cx="1645920" cy="2011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47731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May 3,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502920"/>
            <a:ext cx="54864" cy="34747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16459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walk-through of our Deadlock Simulation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98448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47472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40817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13898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4048" y="1911096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7200" y="1984248"/>
            <a:ext cx="347472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02082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07008" y="200253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84048" y="2523744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57200" y="2596896"/>
            <a:ext cx="347472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57200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263347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07008" y="261518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— Avoidance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84048" y="3136392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57200" y="3209544"/>
            <a:ext cx="347472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457200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324612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07008" y="322783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Request Handling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84048" y="3749040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457200" y="3822192"/>
            <a:ext cx="347472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45720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385876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07008" y="38404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Detection Algorithm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84048" y="4361688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457200" y="4434840"/>
            <a:ext cx="347472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45720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4471416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207008" y="445312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Graph (RAG)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4681728" y="1298448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4754880" y="1371600"/>
            <a:ext cx="347472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475488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1408176"/>
            <a:ext cx="274320" cy="27432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504688" y="138988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Strategies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4681728" y="1911096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3"/>
          <p:cNvSpPr/>
          <p:nvPr/>
        </p:nvSpPr>
        <p:spPr>
          <a:xfrm>
            <a:off x="4754880" y="1984248"/>
            <a:ext cx="347472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/>
          <p:nvPr/>
        </p:nvSpPr>
        <p:spPr>
          <a:xfrm>
            <a:off x="4754880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2020824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5504688" y="200253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Walkthrough &amp; Features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4681728" y="2523744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7"/>
          <p:cNvSpPr/>
          <p:nvPr/>
        </p:nvSpPr>
        <p:spPr>
          <a:xfrm>
            <a:off x="4754880" y="2596896"/>
            <a:ext cx="347472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8"/>
          <p:cNvSpPr/>
          <p:nvPr/>
        </p:nvSpPr>
        <p:spPr>
          <a:xfrm>
            <a:off x="4754880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pic>
        <p:nvPicPr>
          <p:cNvPr id="4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57216" y="2633472"/>
            <a:ext cx="274320" cy="27432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5504688" y="261518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Sample Test Case</a:t>
            </a:r>
            <a:endParaRPr lang="en-US" sz="1050" dirty="0"/>
          </a:p>
        </p:txBody>
      </p:sp>
      <p:sp>
        <p:nvSpPr>
          <p:cNvPr id="51" name="Shape 40"/>
          <p:cNvSpPr/>
          <p:nvPr/>
        </p:nvSpPr>
        <p:spPr>
          <a:xfrm>
            <a:off x="4681728" y="3136392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1"/>
          <p:cNvSpPr/>
          <p:nvPr/>
        </p:nvSpPr>
        <p:spPr>
          <a:xfrm>
            <a:off x="4754880" y="3209544"/>
            <a:ext cx="347472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2"/>
          <p:cNvSpPr/>
          <p:nvPr/>
        </p:nvSpPr>
        <p:spPr>
          <a:xfrm>
            <a:off x="4754880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3246120"/>
            <a:ext cx="274320" cy="27432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5504688" y="322783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in Code (C++/Qt)</a:t>
            </a:r>
            <a:endParaRPr lang="en-US" sz="1050" dirty="0"/>
          </a:p>
        </p:txBody>
      </p:sp>
      <p:sp>
        <p:nvSpPr>
          <p:cNvPr id="56" name="Shape 44"/>
          <p:cNvSpPr/>
          <p:nvPr/>
        </p:nvSpPr>
        <p:spPr>
          <a:xfrm>
            <a:off x="4681728" y="3749040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5"/>
          <p:cNvSpPr/>
          <p:nvPr/>
        </p:nvSpPr>
        <p:spPr>
          <a:xfrm>
            <a:off x="4754880" y="3822192"/>
            <a:ext cx="347472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6"/>
          <p:cNvSpPr/>
          <p:nvPr/>
        </p:nvSpPr>
        <p:spPr>
          <a:xfrm>
            <a:off x="475488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pic>
        <p:nvPicPr>
          <p:cNvPr id="59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57216" y="3858768"/>
            <a:ext cx="274320" cy="274320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5504688" y="384048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 Outcomes</a:t>
            </a:r>
            <a:endParaRPr lang="en-US" sz="1050" dirty="0"/>
          </a:p>
        </p:txBody>
      </p:sp>
      <p:sp>
        <p:nvSpPr>
          <p:cNvPr id="61" name="Shape 48"/>
          <p:cNvSpPr/>
          <p:nvPr/>
        </p:nvSpPr>
        <p:spPr>
          <a:xfrm>
            <a:off x="4681728" y="4361688"/>
            <a:ext cx="4160520" cy="512064"/>
          </a:xfrm>
          <a:prstGeom prst="roundRect">
            <a:avLst>
              <a:gd name="adj" fmla="val 17857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49"/>
          <p:cNvSpPr/>
          <p:nvPr/>
        </p:nvSpPr>
        <p:spPr>
          <a:xfrm>
            <a:off x="4754880" y="4434840"/>
            <a:ext cx="347472" cy="347472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0"/>
          <p:cNvSpPr/>
          <p:nvPr/>
        </p:nvSpPr>
        <p:spPr>
          <a:xfrm>
            <a:off x="4754880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4471416"/>
            <a:ext cx="274320" cy="274320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5504688" y="445312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Q&amp;A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502920"/>
            <a:ext cx="54864" cy="34747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16459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9FF"/>
                </a:solidFill>
              </a:rPr>
              <a:t>4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84048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Conditions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20848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ABF"/>
                </a:solidFill>
              </a:rPr>
              <a:t>for Deadlock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4408" y="11887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64408" y="12618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9FF"/>
                </a:solidFill>
              </a:rPr>
              <a:t>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64408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Strategies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20848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ABF"/>
                </a:solidFill>
              </a:rPr>
              <a:t>Implemented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4768" y="11887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44768" y="12618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C9FF"/>
                </a:solidFill>
              </a:rPr>
              <a:t>C++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44768" y="18105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Language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208483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ABF"/>
                </a:solidFill>
              </a:rPr>
              <a:t>Qt5 GUI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487168"/>
            <a:ext cx="4160520" cy="2423160"/>
          </a:xfrm>
          <a:prstGeom prst="roundRect">
            <a:avLst>
              <a:gd name="adj" fmla="val 3774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384048" cy="38404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05840" y="2578608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Deadlock?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3035808"/>
            <a:ext cx="3886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deadlock is a state where a set of processes are permanently blocked,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waiting for a resource held by another in the same set.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Coffman's 4 Necessary Conditions: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Mutual Exclusion  ·  Hold &amp; Wait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Preemption  ·  Circular Wait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744504" y="24610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AABF"/>
                </a:solidFill>
              </a:rPr>
              <a:t>Circular Wait — Deadlock Cycle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046720" y="3639312"/>
            <a:ext cx="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7589520" y="4251960"/>
            <a:ext cx="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681728" y="484632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FD2E878-977C-CEC9-AC24-70F392690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812" y="2736760"/>
            <a:ext cx="1480463" cy="21918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502920"/>
            <a:ext cx="54864" cy="34747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Tech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16459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84048" y="1143000"/>
            <a:ext cx="5120640" cy="621792"/>
          </a:xfrm>
          <a:prstGeom prst="roundRect">
            <a:avLst>
              <a:gd name="adj" fmla="val 14706"/>
            </a:avLst>
          </a:prstGeom>
          <a:solidFill>
            <a:srgbClr val="0099CC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197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Qt5 Widgets — MainWindow (3 tabs)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44368" y="1764792"/>
            <a:ext cx="0" cy="164592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907792" y="1920240"/>
            <a:ext cx="73152" cy="73152"/>
          </a:xfrm>
          <a:prstGeom prst="lin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" y="1874520"/>
            <a:ext cx="5120640" cy="621792"/>
          </a:xfrm>
          <a:prstGeom prst="roundRect">
            <a:avLst>
              <a:gd name="adj" fmla="val 1470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0352" y="1929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Layer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19456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  |  Detection  |  Recovery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944368" y="2496312"/>
            <a:ext cx="0" cy="164592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07792" y="2651760"/>
            <a:ext cx="73152" cy="73152"/>
          </a:xfrm>
          <a:prstGeom prst="lin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" y="2606040"/>
            <a:ext cx="5120640" cy="621792"/>
          </a:xfrm>
          <a:prstGeom prst="roundRect">
            <a:avLst>
              <a:gd name="adj" fmla="val 14706"/>
            </a:avLst>
          </a:prstGeom>
          <a:solidFill>
            <a:srgbClr val="1A2F45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0352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" y="292608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RAGWidget — QPainter custom widget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44368" y="3227832"/>
            <a:ext cx="0" cy="164592"/>
          </a:xfrm>
          <a:prstGeom prst="line">
            <a:avLst/>
          </a:prstGeom>
          <a:noFill/>
          <a:ln w="254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07792" y="3383280"/>
            <a:ext cx="73152" cy="73152"/>
          </a:xfrm>
          <a:prstGeom prst="line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4048" y="3337560"/>
            <a:ext cx="5120640" cy="621792"/>
          </a:xfrm>
          <a:prstGeom prst="roundRect">
            <a:avLst>
              <a:gd name="adj" fmla="val 14706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" y="3392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State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365760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· Available · Need · Request matrices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50992" y="1143000"/>
            <a:ext cx="3099816" cy="2816352"/>
          </a:xfrm>
          <a:prstGeom prst="roundRect">
            <a:avLst>
              <a:gd name="adj" fmla="val 3247"/>
            </a:avLst>
          </a:prstGeom>
          <a:solidFill>
            <a:srgbClr val="0A1929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42432" y="12070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42432" y="1536192"/>
            <a:ext cx="29443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DeadlockSim/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include/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Banker.h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Detection.h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Recovery.h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RAGWidget.h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MainWindow.h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src/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main.cpp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Banker.cpp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Detection.cpp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Recovery.cpp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 RAGWidget.cpp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8F0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 MainWindow.cpp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4048" y="4160520"/>
            <a:ext cx="1920240" cy="320040"/>
          </a:xfrm>
          <a:prstGeom prst="rect">
            <a:avLst/>
          </a:prstGeom>
          <a:solidFill>
            <a:srgbClr val="0099CC">
              <a:alpha val="80000"/>
            </a:srgbClr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</a:rPr>
              <a:t>C++17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87168" y="4160520"/>
            <a:ext cx="1920240" cy="320040"/>
          </a:xfrm>
          <a:prstGeom prst="rect">
            <a:avLst/>
          </a:prstGeom>
          <a:solidFill>
            <a:srgbClr val="0099CC">
              <a:alpha val="80000"/>
            </a:srgbClr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487168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</a:rPr>
              <a:t>Qt 5.15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90288" y="4160520"/>
            <a:ext cx="1920240" cy="320040"/>
          </a:xfrm>
          <a:prstGeom prst="rect">
            <a:avLst/>
          </a:prstGeom>
          <a:solidFill>
            <a:srgbClr val="0099CC">
              <a:alpha val="80000"/>
            </a:srgbClr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90288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</a:rPr>
              <a:t>OOP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93408" y="4160520"/>
            <a:ext cx="1920240" cy="320040"/>
          </a:xfrm>
          <a:prstGeom prst="rect">
            <a:avLst/>
          </a:prstGeom>
          <a:solidFill>
            <a:srgbClr val="0099CC">
              <a:alpha val="80000"/>
            </a:srgbClr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93408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FF"/>
                </a:solidFill>
              </a:rPr>
              <a:t>CMake / qmake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502920"/>
            <a:ext cx="54864" cy="34747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Banker's Algorithm — Deadlock Avoidance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16459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classic algorithm — grants requests only if the resulting state is provably safe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98448"/>
            <a:ext cx="3977640" cy="2514600"/>
          </a:xfrm>
          <a:prstGeom prst="rect">
            <a:avLst/>
          </a:prstGeom>
          <a:solidFill>
            <a:srgbClr val="0A1929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371600"/>
            <a:ext cx="3794760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Safety Check Pseudocode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 ← Available[1..R]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Finish[i] ← false  for all i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 i : Finish[i]=false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AND Need[i] ≤ Work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   ← Work + Allocation[i]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Finish[i] ← true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LOOP</a:t>
            </a:r>
            <a:endParaRPr lang="en-US" sz="750" dirty="0"/>
          </a:p>
          <a:p>
            <a:pPr marL="0" indent="0">
              <a:buNone/>
            </a:pP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all Finish[i] = true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SAFE STATE ✓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UNSAFE STATE ✗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26280" y="1298448"/>
            <a:ext cx="4224528" cy="2514600"/>
          </a:xfrm>
          <a:prstGeom prst="roundRect">
            <a:avLst>
              <a:gd name="adj" fmla="val 3636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45152" y="13716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Matrices (5 Processes, 3 Resources)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719072"/>
          <a:ext cx="4041648" cy="172212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Process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 (R0 R1 R2)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Alloc (R0 R1 R2)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Need (R0 R1 R2)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C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7  5  3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0  1  0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7  4  3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C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3  2  2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2  0  0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1  2  2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C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9  0  2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3  0  2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6  0  0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C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P3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2  2  2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2  1  1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0  1  1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00C9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P4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4  3  3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0  0  2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4  3  1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84048" y="3913632"/>
            <a:ext cx="8366760" cy="658368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0507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40050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Sequence: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423160" y="40050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→ P3 → P4 → P0 → P2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537960" y="4041648"/>
            <a:ext cx="20848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Available: 3  3  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502920"/>
            <a:ext cx="54864" cy="34747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Request Handling (Banker)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16459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Three-step verification before any allocation is committed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3444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Request[i] &gt; Need[i] 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1801368"/>
            <a:ext cx="0" cy="182880"/>
          </a:xfrm>
          <a:prstGeom prst="line">
            <a:avLst/>
          </a:prstGeom>
          <a:noFill/>
          <a:ln w="19050">
            <a:solidFill>
              <a:srgbClr val="8BAA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98848" y="1517904"/>
            <a:ext cx="411480" cy="0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910328" y="1289304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Error — exceeds max claim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1984248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0756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Request[i] &gt; Available[i] 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41448" y="2551176"/>
            <a:ext cx="0" cy="182880"/>
          </a:xfrm>
          <a:prstGeom prst="line">
            <a:avLst/>
          </a:prstGeom>
          <a:noFill/>
          <a:ln w="19050">
            <a:solidFill>
              <a:srgbClr val="8BAA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98848" y="2267712"/>
            <a:ext cx="411480" cy="0"/>
          </a:xfrm>
          <a:prstGeom prst="line">
            <a:avLst/>
          </a:prstGeom>
          <a:noFill/>
          <a:ln w="1905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10328" y="2039112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2075688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Wait — resources unavailable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4048" y="2734056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825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Tentative allocation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41448" y="3300984"/>
            <a:ext cx="0" cy="182880"/>
          </a:xfrm>
          <a:prstGeom prst="line">
            <a:avLst/>
          </a:prstGeom>
          <a:noFill/>
          <a:ln w="19050">
            <a:solidFill>
              <a:srgbClr val="8BAA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3483864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57530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Safety Check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41448" y="4050792"/>
            <a:ext cx="0" cy="182880"/>
          </a:xfrm>
          <a:prstGeom prst="line">
            <a:avLst/>
          </a:prstGeom>
          <a:noFill/>
          <a:ln w="19050">
            <a:solidFill>
              <a:srgbClr val="8BAA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4048" y="4233672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32511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Safe State?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V="1">
            <a:off x="4498848" y="4250001"/>
            <a:ext cx="402336" cy="267135"/>
          </a:xfrm>
          <a:prstGeom prst="line">
            <a:avLst/>
          </a:prstGeom>
          <a:noFill/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919472" y="3937144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92624" y="3973720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GRANT request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10328" y="448056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92624" y="4517136"/>
            <a:ext cx="3675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ROLLBACK — unsafe; deny request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498848" y="4645151"/>
            <a:ext cx="420624" cy="71189"/>
          </a:xfrm>
          <a:prstGeom prst="line">
            <a:avLst/>
          </a:prstGeom>
          <a:noFill/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502920"/>
            <a:ext cx="54864" cy="34747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Detection Algorithm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16459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deadlocked processes post-hoc — no avoidance overhead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61872"/>
            <a:ext cx="4206240" cy="2999232"/>
          </a:xfrm>
          <a:prstGeom prst="rect">
            <a:avLst/>
          </a:prstGeom>
          <a:solidFill>
            <a:srgbClr val="0A1929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335024"/>
            <a:ext cx="40233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Detection Algorithm (Detection.cpp)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 ← Available[1..R]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Finish[i] = true if Alloc[i] == 0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0..P: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all(Allocation[i] == 0):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Finish[i] = true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find i : Finish[i]=false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AND Request[i] ≤ Work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   ← Work + Allocation[i]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Finish[i] ← true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LOOP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Unfinished processes = deadlocked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0..P: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Finish[i] == false: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DEADLOCKED.add(P_i)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736592" y="1261872"/>
            <a:ext cx="4014216" cy="2999232"/>
          </a:xfrm>
          <a:prstGeom prst="roundRect">
            <a:avLst>
              <a:gd name="adj" fmla="val 3049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64608" y="13533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vs Banker's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719072"/>
          <a:ext cx="3877056" cy="1975104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Banker's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Detection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Avoid deadlock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Find deadlock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 initial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Finish[i]=false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Finish[i]=(Alloc==0)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Need[i]≤Work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Request[i]≤Work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0C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Safe sequence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E8F0F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Deadlocked PIDs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84048" y="4370832"/>
            <a:ext cx="8366760" cy="530352"/>
          </a:xfrm>
          <a:prstGeom prst="roundRect">
            <a:avLst>
              <a:gd name="adj" fmla="val 17241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46227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0120" y="446227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DETECTED!  →  Deadlocked Processes: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349240" y="44622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 P2  P4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502920"/>
            <a:ext cx="54864" cy="34747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Graph (RAG)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16459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 rendered with Qt's QPainter — updates on every detection run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2618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AABF"/>
                </a:solidFill>
              </a:rPr>
              <a:t>RAG Example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98448" y="1435608"/>
            <a:ext cx="694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98448" y="2532888"/>
            <a:ext cx="694944" cy="512064"/>
          </a:xfrm>
          <a:prstGeom prst="line">
            <a:avLst/>
          </a:prstGeom>
          <a:solidFill>
            <a:srgbClr val="E63946">
              <a:alpha val="85000"/>
            </a:srgbClr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98448" y="2532888"/>
            <a:ext cx="694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98448" y="3630168"/>
            <a:ext cx="694944" cy="512064"/>
          </a:xfrm>
          <a:prstGeom prst="line">
            <a:avLst/>
          </a:prstGeom>
          <a:solidFill>
            <a:srgbClr val="E63946">
              <a:alpha val="85000"/>
            </a:srgbClr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98448" y="3630168"/>
            <a:ext cx="694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66360" y="2148840"/>
            <a:ext cx="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166360" y="3429000"/>
            <a:ext cx="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93392" y="2788920"/>
            <a:ext cx="3172968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993392" y="3886200"/>
            <a:ext cx="3172968" cy="0"/>
          </a:xfrm>
          <a:prstGeom prst="line">
            <a:avLst/>
          </a:prstGeom>
          <a:noFill/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93392" y="1691640"/>
            <a:ext cx="3172968" cy="173736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87568" y="1536192"/>
            <a:ext cx="3063240" cy="3401568"/>
          </a:xfrm>
          <a:prstGeom prst="roundRect">
            <a:avLst>
              <a:gd name="adj" fmla="val 2985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72" y="1627632"/>
            <a:ext cx="347472" cy="34747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6236208" y="166420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</a:rPr>
              <a:t>RAGWidget (Qt)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833872" y="2029968"/>
            <a:ext cx="2788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QWidget subclass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QPainter::Antialiasing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Circles = Processes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 = Resources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Deadlocked nodes in red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Auto-layout by column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Redraws on every detection</a:t>
            </a:r>
            <a:endParaRPr lang="en-US" sz="950" dirty="0"/>
          </a:p>
        </p:txBody>
      </p:sp>
      <p:pic>
        <p:nvPicPr>
          <p:cNvPr id="34" name="Picture 33" descr="A screenshot of a computer screen">
            <a:extLst>
              <a:ext uri="{FF2B5EF4-FFF2-40B4-BE49-F238E27FC236}">
                <a16:creationId xmlns:a16="http://schemas.microsoft.com/office/drawing/2014/main" id="{82BAC5BD-353D-1CA2-EB4C-9FFA49C93C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65" t="6807" r="5301" b="7261"/>
          <a:stretch/>
        </p:blipFill>
        <p:spPr>
          <a:xfrm>
            <a:off x="577897" y="1517904"/>
            <a:ext cx="4610670" cy="3285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502920"/>
            <a:ext cx="54864" cy="34747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Strategies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16459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strategies implemented — terminate all or terminate one at a time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61872"/>
            <a:ext cx="4160520" cy="3310128"/>
          </a:xfrm>
          <a:prstGeom prst="roundRect">
            <a:avLst>
              <a:gd name="adj" fmla="val 2762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2646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1: Terminate ALL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1901952"/>
            <a:ext cx="3913632" cy="1600200"/>
          </a:xfrm>
          <a:prstGeom prst="rect">
            <a:avLst/>
          </a:prstGeom>
          <a:solidFill>
            <a:srgbClr val="0A1929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975104"/>
            <a:ext cx="37307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pid in deadlockedProcesses: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r in 0..numResources: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available[r] += alloc[pid][r]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alloc[pid][r] = 0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 deadlocked processes terminated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Resources fully reclaimed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System can continue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" y="3566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all deadlocked procs instantly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resource reclaim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resolution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process loss (costly in real OS)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90288" y="1261872"/>
            <a:ext cx="4160520" cy="3310128"/>
          </a:xfrm>
          <a:prstGeom prst="roundRect">
            <a:avLst>
              <a:gd name="adj" fmla="val 2762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3716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426464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2: Terminate ONE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09160" y="1901952"/>
            <a:ext cx="3913632" cy="1600200"/>
          </a:xfrm>
          <a:prstGeom prst="rect">
            <a:avLst/>
          </a:prstGeom>
          <a:solidFill>
            <a:srgbClr val="0A1929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4800600" y="1975104"/>
            <a:ext cx="373075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victim = deadlockedProcesses[0]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Lowest PID selected as victim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 in 0..numResources: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available[r] += alloc[victim][r]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alloc[victim][r] = 0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Re-run Detection to check if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deadlock is resolved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754880" y="3566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one process (lowest PID)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resource reclaim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detection after each step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Minimises collateral damage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84048" y="4681728"/>
            <a:ext cx="8366760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30352" y="4736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strategies update the Available vector in-place and log a full resource release trace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502920"/>
            <a:ext cx="54864" cy="34747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Walkthrough — 3-Tab Interface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16459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02412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Qt5 Widgets — dark-themed, matrix-driven, with live graph rendering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261872"/>
            <a:ext cx="2606040" cy="3611880"/>
          </a:xfrm>
          <a:prstGeom prst="roundRect">
            <a:avLst>
              <a:gd name="adj" fmla="val 3509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2606040" cy="475488"/>
          </a:xfrm>
          <a:prstGeom prst="rect">
            <a:avLst/>
          </a:prstGeom>
          <a:solidFill>
            <a:srgbClr val="0099CC">
              <a:alpha val="75000"/>
            </a:srgbClr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31673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86968" y="133502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1 — Banker's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1208" y="1828800"/>
            <a:ext cx="23774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# processes &amp; resources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Max, Allocation matrices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Safe State button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Resources (by PID)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matrix auto-computed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Example (5P / 3R)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72968" y="1261872"/>
            <a:ext cx="2606040" cy="3611880"/>
          </a:xfrm>
          <a:prstGeom prst="roundRect">
            <a:avLst>
              <a:gd name="adj" fmla="val 3509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72968" y="1261872"/>
            <a:ext cx="2606040" cy="475488"/>
          </a:xfrm>
          <a:prstGeom prst="rect">
            <a:avLst/>
          </a:prstGeom>
          <a:solidFill>
            <a:srgbClr val="FFB703">
              <a:alpha val="75000"/>
            </a:srgbClr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316736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75888" y="133502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2 — Detection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10128" y="1828800"/>
            <a:ext cx="23774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Available, Alloc, Request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Detection button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deadlocked processes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RAG renders beside log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Deadlocked nodes highlighted red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Example for quick demo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61888" y="1261872"/>
            <a:ext cx="2606040" cy="3611880"/>
          </a:xfrm>
          <a:prstGeom prst="roundRect">
            <a:avLst>
              <a:gd name="adj" fmla="val 3509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961888" y="1261872"/>
            <a:ext cx="2606040" cy="475488"/>
          </a:xfrm>
          <a:prstGeom prst="rect">
            <a:avLst/>
          </a:prstGeom>
          <a:solidFill>
            <a:srgbClr val="E63946">
              <a:alpha val="75000"/>
            </a:srgbClr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3328" y="131673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133502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3 — Recovery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099048" y="1828800"/>
            <a:ext cx="237744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passed from Detection tab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ALL deadlocked PIDs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 ONE (lowest PID)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resource release log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Available displayed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log button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84048" y="4956048"/>
            <a:ext cx="8366760" cy="45720"/>
          </a:xfrm>
          <a:prstGeom prst="roundRect">
            <a:avLst>
              <a:gd name="adj" fmla="val 20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502920"/>
            <a:ext cx="54864" cy="347472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0352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— C++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987552"/>
            <a:ext cx="8375904" cy="16459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Banker::isSafeState()  — Safety Loop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4160520" cy="2487168"/>
          </a:xfrm>
          <a:prstGeom prst="rect">
            <a:avLst/>
          </a:prstGeom>
          <a:solidFill>
            <a:srgbClr val="0A1929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490472"/>
            <a:ext cx="39776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(count &lt; numProcesses)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found = false;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 = 0; i &lt; numProcesses; i++)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(!finish[i])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bool ok = true;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(int j=0;j&lt;numResources;j++)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(need[i][j] &gt; work[j])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ok=false; break;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(ok)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for(int j=0;j&lt;numResources;j++)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work[j] += allocation[i][j];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finish[i] = true;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safeSeq.push_back(i);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count++;  found = true;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(!found) break;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90288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Detection::detect()  — Detection Loop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90288" y="1417320"/>
            <a:ext cx="4160520" cy="2487168"/>
          </a:xfrm>
          <a:prstGeom prst="rect">
            <a:avLst/>
          </a:prstGeom>
          <a:solidFill>
            <a:srgbClr val="0A1929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81728" y="1490472"/>
            <a:ext cx="397764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found = true;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(found)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found = false;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for(int i=0;i&lt;numProcesses;i++){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(!finish[i])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bool ok = true;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for(int j=0;j&lt;numResources;j++)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if(request[i][j]&gt;work[j])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 ok=false; break;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(ok)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for(int j=0;j&lt;numResources;j++)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work[j]+=allocation[i][j];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finish[i]=true;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found=true;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4048" y="4005072"/>
            <a:ext cx="8366760" cy="713232"/>
          </a:xfrm>
          <a:prstGeom prst="roundRect">
            <a:avLst>
              <a:gd name="adj" fmla="val 1282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0352" y="40782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84832" y="4078224"/>
            <a:ext cx="6537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Banker initialises </a:t>
            </a:r>
            <a:r>
              <a:rPr lang="en-US" sz="1050" dirty="0">
                <a:solidFill>
                  <a:srgbClr val="00C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Finish[i]=false </a:t>
            </a: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all;   Detection uses </a:t>
            </a:r>
            <a:r>
              <a:rPr lang="en-US" sz="105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Finish[i]=(Alloc[i]==0) </a:t>
            </a: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only blocks processes that actually hold resources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5029200" cy="5029200"/>
          </a:xfrm>
          <a:prstGeom prst="line">
            <a:avLst/>
          </a:prstGeom>
          <a:solidFill>
            <a:srgbClr val="0099CC">
              <a:alpha val="10000"/>
            </a:srgbClr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3657600" cy="274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115568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64008" cy="77724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984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12252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5568" y="1517904"/>
            <a:ext cx="7424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Dijkstra's Banker's Algorithm with full safety-state analysis and request rollback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20116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02920" y="2011680"/>
            <a:ext cx="64008" cy="7772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1945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15568" y="21214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115568" y="2414016"/>
            <a:ext cx="7424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cycle-detection via resource-request graph traversal — identifies all deadlocked PIDs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2907792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02920" y="2907792"/>
            <a:ext cx="64008" cy="7772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09067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3017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15568" y="3310128"/>
            <a:ext cx="7424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strategies: Terminate-All (fast) and Terminate-One (minimal disruption) with live resource reclaim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02920" y="3803904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2263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502920" y="3803904"/>
            <a:ext cx="64008" cy="777240"/>
          </a:xfrm>
          <a:prstGeom prst="rect">
            <a:avLst/>
          </a:prstGeom>
          <a:solidFill>
            <a:srgbClr val="0099CC"/>
          </a:solidFill>
          <a:ln w="127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986784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15568" y="3913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15568" y="4206240"/>
            <a:ext cx="7424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QPainter RAGWidget renders live graph with color-coded deadlocked nodes and edges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02920" y="4681728"/>
            <a:ext cx="8229600" cy="320040"/>
          </a:xfrm>
          <a:prstGeom prst="roundRect">
            <a:avLst>
              <a:gd name="adj" fmla="val 2857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594360" y="473659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   |   NASTP IIT · BS Cyber Security · May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1506</Words>
  <Application>Microsoft Office PowerPoint</Application>
  <PresentationFormat>On-screen Show (16:9)</PresentationFormat>
  <Paragraphs>310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 Simulation — OS Lab Project</dc:title>
  <dc:subject>PptxGenJS Presentation</dc:subject>
  <dc:creator>NASTP IIT — BS Cyber Security</dc:creator>
  <cp:lastModifiedBy>Muhammad Haseeb Sajid</cp:lastModifiedBy>
  <cp:revision>3</cp:revision>
  <dcterms:created xsi:type="dcterms:W3CDTF">2026-06-08T17:45:42Z</dcterms:created>
  <dcterms:modified xsi:type="dcterms:W3CDTF">2026-06-09T18:43:02Z</dcterms:modified>
</cp:coreProperties>
</file>